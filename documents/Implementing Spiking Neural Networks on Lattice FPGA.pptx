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1" autoAdjust="0"/>
    <p:restoredTop sz="94660"/>
  </p:normalViewPr>
  <p:slideViewPr>
    <p:cSldViewPr snapToGrid="0">
      <p:cViewPr varScale="1">
        <p:scale>
          <a:sx n="86" d="100"/>
          <a:sy n="86" d="100"/>
        </p:scale>
        <p:origin x="48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D4626-A7BB-27CE-A599-4C109FD5C6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D22E50-ED9E-147B-C712-7050E3E89B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A6ED1-8FBE-A2BD-8F15-A5A1CDEC6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16C53-E0FB-444C-BA7E-5E233131558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1F012-C5FB-90E4-CB67-ABD4C0592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D4DBA8-9AC7-C81F-95CC-DFED7EF60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EC53E-2CEB-4F74-A869-D6454C515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965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617F3-F725-5802-F746-4A05C34A7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C31A0-C392-E7C3-F11D-A88A08D8E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E2388-5D29-874C-2E10-6C06205DF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16C53-E0FB-444C-BA7E-5E233131558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8A787-0368-26E5-11AB-7789EC3F5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BEC26-CB44-C2A8-BA3E-97906A5E9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EC53E-2CEB-4F74-A869-D6454C515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049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8F03C-F93B-BC4C-6EDC-83C7F66BF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E52D13-7417-EE72-0578-59107F2CDF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3B8C7-010F-F766-81B6-9041BFFD7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16C53-E0FB-444C-BA7E-5E233131558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FE427-3F50-18B8-67DC-5DF4A0A9D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74B82-6182-E5BB-09DE-643BFD579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EC53E-2CEB-4F74-A869-D6454C515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363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C03BC-EBA6-3954-DE16-A34205F71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4A165-0FC1-ABA2-E2AC-F7C6D52A4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F3346A-3D3B-0AAC-C373-58B9E323CC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F5ACDC-4EB8-039F-C1AB-DD7E852A4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16C53-E0FB-444C-BA7E-5E233131558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62B42E-5785-0AFA-9200-C0A99D21C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21247E-D056-5389-6F01-001B336FC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EC53E-2CEB-4F74-A869-D6454C515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82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14732-BF99-6888-87E0-3FCE87305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19D6F8-DB50-5B14-8394-1306C3247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02CDD3-23BD-B695-8D7B-9B566CB458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1161F6-CA83-6F9A-F270-52FF48AA68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B9B0A9-7E5F-6F94-00F5-129D9C84D8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882479-BB3D-CD70-EB19-E354AA513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16C53-E0FB-444C-BA7E-5E233131558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952A77-D053-ACB7-DD70-6E8BD9367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398639-CB04-3966-4809-D283289DD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EC53E-2CEB-4F74-A869-D6454C515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546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3824A-7A26-6C82-C43E-2D8116404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D077B6-27F4-86A1-CED2-727456F2B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16C53-E0FB-444C-BA7E-5E233131558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B47AD3-3E0B-6AE9-1CBF-733CDCF03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CC995E-96DA-3259-E08E-7E8898900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EC53E-2CEB-4F74-A869-D6454C515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065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85344B-4877-C9F9-B990-357293833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16C53-E0FB-444C-BA7E-5E233131558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427BFD-DBA7-64A8-8192-8FFCE1F69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0936C6-4A51-4307-BBB7-49D88557F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EC53E-2CEB-4F74-A869-D6454C515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29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3C21A-5061-1F1E-83D6-3C7616D6F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DE796-69DB-0546-E522-47F06B03F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090583-7C6D-CFBE-97B4-85AFC50EC8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89DB7B-6244-D2DF-6535-E350C967A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16C53-E0FB-444C-BA7E-5E233131558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128A69-D5BD-638A-7610-55513809D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4D3E8C-F35E-1048-E3C4-D941EC170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EC53E-2CEB-4F74-A869-D6454C515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470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9A55E-86B3-0B65-90EB-80F1D6D62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822116-B051-65A6-EF23-F6A8DC953A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15FE3C-6AFA-C1D0-EAF3-9773BD15B3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E0BF30-D881-AEB5-36D7-E6CF61B29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16C53-E0FB-444C-BA7E-5E233131558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2EE741-F1CA-2219-F384-06F4489AF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9FB638-8717-9C0D-7508-F798C6A35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EC53E-2CEB-4F74-A869-D6454C515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932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A4BBB-F09C-8B7F-EDD7-DAE0AB490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0B5ACF-B034-98FF-AECB-B94678DADD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8CEBC-49D0-7DC6-0B40-BAD9276DD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16C53-E0FB-444C-BA7E-5E233131558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05867-8D01-7266-FB0F-4E2143752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47B59-0106-DFF7-2573-3141FDDAC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EC53E-2CEB-4F74-A869-D6454C515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218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F51EC9-1428-8B62-B90B-F59C0097D3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A8824A-4E3B-09DA-9F4A-7D2FE46939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2F21A-9101-5202-BBF6-36A704B9B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16C53-E0FB-444C-BA7E-5E233131558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2FD9A-09D6-2FD5-731A-2556E5AAA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280BF-B55C-B597-9D9A-D27071D28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EC53E-2CEB-4F74-A869-D6454C515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463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851A2C-249B-C27A-FBDF-B95E4A49F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4DB2E8-5F0A-4AB7-D3DC-5D3C9BC096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F56002-A1F3-C655-AEF8-84E8E746D3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716C53-E0FB-444C-BA7E-5E233131558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EA54F-3FD1-7826-E900-4319BA209D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65096-66F7-8854-DAA6-D7092B4F4D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2EC53E-2CEB-4F74-A869-D6454C515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732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D5D7D-12FC-D423-F323-6CCF14EB24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Implementing Spiking Neural Networks on Lattice FPGA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D01CD3-8F6A-4F88-C52A-85A67F82E6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715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D65D8-2B1C-CC6B-BDAF-368783BA5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specs of the LIFCL-40-9BG400C FPGA on the LIFCL-40-ENV Development board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9A456-CB5A-91A2-11B7-20DB71DD0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8344"/>
            <a:ext cx="9331960" cy="105981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Logic capacity: 39k logic cells</a:t>
            </a:r>
          </a:p>
          <a:p>
            <a:r>
              <a:rPr lang="en-US" dirty="0"/>
              <a:t>Embedded block RAM: 1512 Kbit</a:t>
            </a:r>
          </a:p>
          <a:p>
            <a:r>
              <a:rPr lang="en-US" dirty="0"/>
              <a:t>LRAM: 1024 Kbit</a:t>
            </a:r>
          </a:p>
          <a:p>
            <a:endParaRPr lang="en-US" dirty="0"/>
          </a:p>
        </p:txBody>
      </p:sp>
      <p:pic>
        <p:nvPicPr>
          <p:cNvPr id="1026" name="Picture 2" descr="LATTICE SEMICONDUCTOR LIFCL-40-EVN">
            <a:extLst>
              <a:ext uri="{FF2B5EF4-FFF2-40B4-BE49-F238E27FC236}">
                <a16:creationId xmlns:a16="http://schemas.microsoft.com/office/drawing/2014/main" id="{0E25078C-6EC6-DC0B-CAA8-1E1B07C38E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8840" y="3058159"/>
            <a:ext cx="4820920" cy="3174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9117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190B9-FAB9-D8A9-1690-F567B6889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 Digital Logic Design for LIF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B1F1F-AFDC-0834-826F-2A1E123B6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estimate the size of the network the FPGA is capable of. We use a simple implementation of a LIF Neuron with shift-based leak so it does not require hardware multipliers.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E489D3-0AF1-47B6-ADBB-FC528CCC2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" y="3199141"/>
            <a:ext cx="12002555" cy="2876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34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61E60-2B74-2E7C-947E-A618077B0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 estimates for a single LIF Neuron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294B00B-97BC-AEFD-36D9-CDD46F9B3D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9423445"/>
              </p:ext>
            </p:extLst>
          </p:nvPr>
        </p:nvGraphicFramePr>
        <p:xfrm>
          <a:off x="838200" y="1877854"/>
          <a:ext cx="10515600" cy="25603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46424778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6369714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Resource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/>
                        <a:t>Estimated amount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0884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Flip-flops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/>
                        <a:t>10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2982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LUT4s / logic cells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/>
                        <a:t>20–27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0992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Carry chains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Approximately two 9-bit chains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5433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DSP multipliers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/>
                        <a:t>0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36324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Block RAM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/>
                        <a:t>0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5603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PLLs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 dirty="0"/>
                        <a:t>0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0324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6378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6BA16-5B98-2589-B981-BBD788557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3192"/>
            <a:ext cx="10515600" cy="1325563"/>
          </a:xfrm>
        </p:spPr>
        <p:txBody>
          <a:bodyPr/>
          <a:lstStyle/>
          <a:p>
            <a:r>
              <a:rPr lang="en-US" dirty="0"/>
              <a:t>A rough estimate of the maximum size for a simple Feed-forward LIF Neural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67ECF-E07E-D06A-CEBE-AF795AEFC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660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Estimated LUT4s required for a 3-layer feed-forward, fully parallel, dense Network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2C58388-C83D-D60E-AB1C-090C913244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7143926"/>
              </p:ext>
            </p:extLst>
          </p:nvPr>
        </p:nvGraphicFramePr>
        <p:xfrm>
          <a:off x="1535838" y="2167414"/>
          <a:ext cx="7965769" cy="4608416"/>
        </p:xfrm>
        <a:graphic>
          <a:graphicData uri="http://schemas.openxmlformats.org/drawingml/2006/table">
            <a:tbl>
              <a:tblPr/>
              <a:tblGrid>
                <a:gridCol w="1960924">
                  <a:extLst>
                    <a:ext uri="{9D8B030D-6E8A-4147-A177-3AD203B41FA5}">
                      <a16:colId xmlns:a16="http://schemas.microsoft.com/office/drawing/2014/main" val="177484268"/>
                    </a:ext>
                  </a:extLst>
                </a:gridCol>
                <a:gridCol w="2001615">
                  <a:extLst>
                    <a:ext uri="{9D8B030D-6E8A-4147-A177-3AD203B41FA5}">
                      <a16:colId xmlns:a16="http://schemas.microsoft.com/office/drawing/2014/main" val="3364000935"/>
                    </a:ext>
                  </a:extLst>
                </a:gridCol>
                <a:gridCol w="2001615">
                  <a:extLst>
                    <a:ext uri="{9D8B030D-6E8A-4147-A177-3AD203B41FA5}">
                      <a16:colId xmlns:a16="http://schemas.microsoft.com/office/drawing/2014/main" val="2215133342"/>
                    </a:ext>
                  </a:extLst>
                </a:gridCol>
                <a:gridCol w="2001615">
                  <a:extLst>
                    <a:ext uri="{9D8B030D-6E8A-4147-A177-3AD203B41FA5}">
                      <a16:colId xmlns:a16="http://schemas.microsoft.com/office/drawing/2014/main" val="4231491596"/>
                    </a:ext>
                  </a:extLst>
                </a:gridCol>
              </a:tblGrid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Network(in, hidden, out)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 dirty="0"/>
                        <a:t>Connections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/>
                        <a:t>Estimated LUT4s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 dirty="0"/>
                        <a:t>Approx. usage 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1944723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dirty="0"/>
                        <a:t>16–32–10</a:t>
                      </a:r>
                      <a:endParaRPr lang="en-US" sz="1700" dirty="0"/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 dirty="0"/>
                        <a:t>832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 dirty="0"/>
                        <a:t>≈10,000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 dirty="0"/>
                        <a:t>31%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3760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dirty="0"/>
                        <a:t>32–32–10</a:t>
                      </a:r>
                      <a:endParaRPr lang="en-US" sz="1700" dirty="0"/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 dirty="0"/>
                        <a:t>1,344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 dirty="0"/>
                        <a:t>≈15,000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 dirty="0"/>
                        <a:t>46%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9225758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dirty="0"/>
                        <a:t>16–64–10</a:t>
                      </a:r>
                      <a:endParaRPr lang="en-US" sz="1700" dirty="0"/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 dirty="0"/>
                        <a:t>1,664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/>
                        <a:t>≈19,000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/>
                        <a:t>58%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13733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48–32–10</a:t>
                      </a:r>
                      <a:endParaRPr lang="en-US" sz="1700"/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 dirty="0"/>
                        <a:t>1,856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 dirty="0"/>
                        <a:t>≈20,000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/>
                        <a:t>62%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2562866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32–48–10</a:t>
                      </a:r>
                      <a:endParaRPr lang="en-US" sz="1700"/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 dirty="0"/>
                        <a:t>2,016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/>
                        <a:t>≈22,100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/>
                        <a:t>68%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1349600"/>
                  </a:ext>
                </a:extLst>
              </a:tr>
              <a:tr h="609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128–16–10</a:t>
                      </a:r>
                      <a:endParaRPr lang="en-US" sz="1700"/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 dirty="0"/>
                        <a:t>2,208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 dirty="0"/>
                        <a:t>≈23,200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/>
                        <a:t>71%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6653341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64–28–10</a:t>
                      </a:r>
                      <a:endParaRPr lang="en-US" sz="1700"/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/>
                        <a:t>2,072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 dirty="0"/>
                        <a:t>≈22,200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 dirty="0"/>
                        <a:t>68%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5936592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64–30–10</a:t>
                      </a:r>
                      <a:endParaRPr lang="en-US" sz="1700"/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/>
                        <a:t>2,220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/>
                        <a:t>≈23,700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 dirty="0"/>
                        <a:t>73%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6350176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64–32–10</a:t>
                      </a:r>
                      <a:endParaRPr lang="en-US" sz="1700"/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/>
                        <a:t>2,368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/>
                        <a:t>≈25,200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 dirty="0"/>
                        <a:t>78%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9777615"/>
                  </a:ext>
                </a:extLst>
              </a:tr>
              <a:tr h="609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32–64–10</a:t>
                      </a:r>
                      <a:endParaRPr lang="en-US" sz="1700"/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/>
                        <a:t>2,688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 dirty="0"/>
                        <a:t>≈29,200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 dirty="0"/>
                        <a:t>90%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23047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8674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209</Words>
  <Application>Microsoft Office PowerPoint</Application>
  <PresentationFormat>Widescreen</PresentationFormat>
  <Paragraphs>70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Implementing Spiking Neural Networks on Lattice FPGA</vt:lpstr>
      <vt:lpstr>Main specs of the LIFCL-40-9BG400C FPGA on the LIFCL-40-ENV Development board </vt:lpstr>
      <vt:lpstr>A Simple Digital Logic Design for LIF Networks</vt:lpstr>
      <vt:lpstr>Resource estimates for a single LIF Neuron</vt:lpstr>
      <vt:lpstr>A rough estimate of the maximum size for a simple Feed-forward LIF Neural Network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yasaman rafie</dc:creator>
  <cp:lastModifiedBy>yasaman rafie</cp:lastModifiedBy>
  <cp:revision>8</cp:revision>
  <dcterms:created xsi:type="dcterms:W3CDTF">2026-08-14T00:49:41Z</dcterms:created>
  <dcterms:modified xsi:type="dcterms:W3CDTF">2026-08-25T19:26:44Z</dcterms:modified>
</cp:coreProperties>
</file>